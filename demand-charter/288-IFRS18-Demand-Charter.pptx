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9144000" cy="548640"/>
          </a:xfrm>
          <a:prstGeom prst="rect">
            <a:avLst/>
          </a:prstGeom>
          <a:noFill/>
        </p:spPr>
        <p:txBody>
          <a:bodyPr wrap="square" anchor="t" lIns="76200" rIns="76200" tIns="50800" bIns="50800">
            <a:spAutoFit/>
          </a:bodyPr>
          <a:lstStyle/>
          <a:p>
            <a:pPr algn="l"/>
            <a:r>
              <a:rPr sz="2800" b="1">
                <a:solidFill>
                  <a:srgbClr val="1F3B73"/>
                </a:solidFill>
                <a:latin typeface="Calibri"/>
              </a:rPr>
              <a:t>Demand Charter - 288 - IFRS 18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777240"/>
            <a:ext cx="1005840" cy="365760"/>
          </a:xfrm>
          <a:prstGeom prst="rect">
            <a:avLst/>
          </a:prstGeom>
          <a:solidFill>
            <a:srgbClr val="8EA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Titel</a:t>
            </a:r>
          </a:p>
        </p:txBody>
      </p:sp>
      <p:sp>
        <p:nvSpPr>
          <p:cNvPr id="4" name="Rectangle 3"/>
          <p:cNvSpPr/>
          <p:nvPr/>
        </p:nvSpPr>
        <p:spPr>
          <a:xfrm>
            <a:off x="1280160" y="777240"/>
            <a:ext cx="2377440" cy="365760"/>
          </a:xfrm>
          <a:prstGeom prst="rect">
            <a:avLst/>
          </a:prstGeom>
          <a:solidFill>
            <a:srgbClr val="CFD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000" b="0">
                <a:solidFill>
                  <a:srgbClr val="000000"/>
                </a:solidFill>
                <a:latin typeface="Calibri"/>
              </a:rPr>
              <a:t>288 - IFRS 18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0" y="777240"/>
            <a:ext cx="1188720" cy="365760"/>
          </a:xfrm>
          <a:prstGeom prst="rect">
            <a:avLst/>
          </a:prstGeom>
          <a:solidFill>
            <a:srgbClr val="8EA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Demand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Manager</a:t>
            </a:r>
          </a:p>
        </p:txBody>
      </p:sp>
      <p:sp>
        <p:nvSpPr>
          <p:cNvPr id="6" name="Rectangle 5"/>
          <p:cNvSpPr/>
          <p:nvPr/>
        </p:nvSpPr>
        <p:spPr>
          <a:xfrm>
            <a:off x="4846320" y="777240"/>
            <a:ext cx="2377440" cy="365760"/>
          </a:xfrm>
          <a:prstGeom prst="rect">
            <a:avLst/>
          </a:prstGeom>
          <a:solidFill>
            <a:srgbClr val="CFD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000" b="0">
                <a:solidFill>
                  <a:srgbClr val="000000"/>
                </a:solidFill>
                <a:latin typeface="Calibri"/>
              </a:rPr>
              <a:t>Enikő Baga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0" y="777240"/>
            <a:ext cx="1188720" cy="365760"/>
          </a:xfrm>
          <a:prstGeom prst="rect">
            <a:avLst/>
          </a:prstGeom>
          <a:solidFill>
            <a:srgbClr val="8EA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E2E /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Core Proc.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0" y="777240"/>
            <a:ext cx="2468880" cy="365760"/>
          </a:xfrm>
          <a:prstGeom prst="rect">
            <a:avLst/>
          </a:prstGeom>
          <a:solidFill>
            <a:srgbClr val="CFD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000" b="0">
                <a:solidFill>
                  <a:srgbClr val="000000"/>
                </a:solidFill>
                <a:latin typeface="Calibri"/>
              </a:rPr>
              <a:t>Finance – Accounting &amp;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Calibri"/>
              </a:rPr>
              <a:t>Financial Reporting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10881360" y="777240"/>
            <a:ext cx="1005840" cy="365760"/>
          </a:xfrm>
          <a:prstGeom prst="rect">
            <a:avLst/>
          </a:prstGeom>
          <a:solidFill>
            <a:srgbClr val="8EA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Security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Classif.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887200" y="777240"/>
            <a:ext cx="1280160" cy="365760"/>
          </a:xfrm>
          <a:prstGeom prst="rect">
            <a:avLst/>
          </a:prstGeom>
          <a:solidFill>
            <a:srgbClr val="CFD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000" b="0">
                <a:solidFill>
                  <a:srgbClr val="000000"/>
                </a:solidFill>
                <a:latin typeface="Calibri"/>
              </a:rPr>
              <a:t>Internal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234440"/>
            <a:ext cx="5806440" cy="292608"/>
          </a:xfrm>
          <a:prstGeom prst="rect">
            <a:avLst/>
          </a:prstGeom>
          <a:solidFill>
            <a:srgbClr val="8EA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Current Situation and Pain Points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234440"/>
            <a:ext cx="5806440" cy="292608"/>
          </a:xfrm>
          <a:prstGeom prst="rect">
            <a:avLst/>
          </a:prstGeom>
          <a:solidFill>
            <a:srgbClr val="8EA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Business Objectives and High-Level Demand Description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527048"/>
            <a:ext cx="5806440" cy="2103120"/>
          </a:xfrm>
          <a:prstGeom prst="rect">
            <a:avLst/>
          </a:prstGeom>
          <a:solidFill>
            <a:srgbClr val="CFD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l">
              <a:spcAft>
                <a:spcPts val="400"/>
              </a:spcAft>
            </a:pPr>
            <a:r>
              <a:rPr sz="1050">
                <a:solidFill>
                  <a:srgbClr val="000000"/>
                </a:solidFill>
                <a:latin typeface="Calibri"/>
              </a:rPr>
              <a:t>• No fixed structure today, so different teams present profit &amp; loss differently → hard to compare across the company or with peers.</a:t>
            </a:r>
          </a:p>
          <a:p>
            <a:pPr algn="l">
              <a:spcAft>
                <a:spcPts val="400"/>
              </a:spcAft>
            </a:pPr>
            <a:r>
              <a:rPr sz="1050">
                <a:solidFill>
                  <a:srgbClr val="000000"/>
                </a:solidFill>
                <a:latin typeface="Calibri"/>
              </a:rPr>
              <a:t>• No clear, approved process for our "adjusted" performance numbers shown to investors → risk once we must explain how they're calculated.</a:t>
            </a:r>
          </a:p>
          <a:p>
            <a:pPr algn="l">
              <a:spcAft>
                <a:spcPts val="400"/>
              </a:spcAft>
            </a:pPr>
            <a:r>
              <a:rPr sz="1050">
                <a:solidFill>
                  <a:srgbClr val="000000"/>
                </a:solidFill>
                <a:latin typeface="Calibri"/>
              </a:rPr>
              <a:t>• Our systems don't automatically sort P&amp;L items into the 3 new required groups: Operating, Investing, Financing.</a:t>
            </a:r>
          </a:p>
          <a:p>
            <a:pPr algn="l">
              <a:spcAft>
                <a:spcPts val="400"/>
              </a:spcAft>
            </a:pPr>
            <a:r>
              <a:rPr sz="1050">
                <a:solidFill>
                  <a:srgbClr val="000000"/>
                </a:solidFill>
                <a:latin typeface="Calibri"/>
              </a:rPr>
              <a:t>• Adjusted performance numbers are built by hand in spreadsheets — slow, error-prone, and hard for auditors to check.</a:t>
            </a:r>
          </a:p>
          <a:p>
            <a:pPr algn="l">
              <a:spcAft>
                <a:spcPts val="400"/>
              </a:spcAft>
            </a:pPr>
            <a:r>
              <a:rPr sz="1050">
                <a:solidFill>
                  <a:srgbClr val="000000"/>
                </a:solidFill>
                <a:latin typeface="Calibri"/>
              </a:rPr>
              <a:t>• Business units group similar costs differently; the new rule needs much more consistency here.</a:t>
            </a:r>
          </a:p>
          <a:p>
            <a:pPr algn="l">
              <a:spcAft>
                <a:spcPts val="400"/>
              </a:spcAft>
            </a:pPr>
            <a:r>
              <a:rPr sz="1050">
                <a:solidFill>
                  <a:srgbClr val="000000"/>
                </a:solidFill>
                <a:latin typeface="Calibri"/>
              </a:rPr>
              <a:t>• No dedicated time or budget yet assigned to prepare for this change.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1527048"/>
            <a:ext cx="5806440" cy="2103120"/>
          </a:xfrm>
          <a:prstGeom prst="rect">
            <a:avLst/>
          </a:prstGeom>
          <a:solidFill>
            <a:srgbClr val="CFD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l">
              <a:spcAft>
                <a:spcPts val="400"/>
              </a:spcAft>
            </a:pPr>
            <a:r>
              <a:rPr sz="1050">
                <a:solidFill>
                  <a:srgbClr val="000000"/>
                </a:solidFill>
                <a:latin typeface="Calibri"/>
              </a:rPr>
              <a:t>• Be fully ready for IFRS 18 before it's mandatory (years starting on/after 1 Jan 2027; last year's figures restated from 1 Jan 2026).</a:t>
            </a:r>
          </a:p>
          <a:p>
            <a:pPr algn="l">
              <a:spcAft>
                <a:spcPts val="400"/>
              </a:spcAft>
            </a:pPr>
            <a:r>
              <a:rPr sz="1050">
                <a:solidFill>
                  <a:srgbClr val="000000"/>
                </a:solidFill>
                <a:latin typeface="Calibri"/>
              </a:rPr>
              <a:t>• Check what needs to change in our accounts, systems and templates for the 3 new groups &amp; 2 new required subtotals.</a:t>
            </a:r>
          </a:p>
          <a:p>
            <a:pPr algn="l">
              <a:spcAft>
                <a:spcPts val="400"/>
              </a:spcAft>
            </a:pPr>
            <a:r>
              <a:rPr sz="1050">
                <a:solidFill>
                  <a:srgbClr val="000000"/>
                </a:solidFill>
                <a:latin typeface="Calibri"/>
              </a:rPr>
              <a:t>• Set clear, approved rules for our "adjusted" performance numbers, incl. showing how they connect back to the official numbers.</a:t>
            </a:r>
          </a:p>
          <a:p>
            <a:pPr algn="l">
              <a:spcAft>
                <a:spcPts val="400"/>
              </a:spcAft>
            </a:pPr>
            <a:r>
              <a:rPr sz="1050">
                <a:solidFill>
                  <a:srgbClr val="000000"/>
                </a:solidFill>
                <a:latin typeface="Calibri"/>
              </a:rPr>
              <a:t>• Update our P&amp;L structure, account mapping and reporting system so the new groups/subtotals are produced automatically.</a:t>
            </a:r>
          </a:p>
          <a:p>
            <a:pPr algn="l">
              <a:spcAft>
                <a:spcPts val="400"/>
              </a:spcAft>
            </a:pPr>
            <a:r>
              <a:rPr sz="1050">
                <a:solidFill>
                  <a:srgbClr val="000000"/>
                </a:solidFill>
                <a:latin typeface="Calibri"/>
              </a:rPr>
              <a:t>• Update official templates, checklists and cash-flow statement; train Finance/Controlling/Investor Relations.</a:t>
            </a:r>
          </a:p>
          <a:p>
            <a:pPr algn="l">
              <a:spcAft>
                <a:spcPts val="400"/>
              </a:spcAft>
            </a:pPr>
            <a:r>
              <a:rPr sz="1050">
                <a:solidFill>
                  <a:srgbClr val="000000"/>
                </a:solidFill>
                <a:latin typeface="Calibri"/>
              </a:rPr>
              <a:t>• Run a test/dry-run cycle and work with our external auditors on how we make the change.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703320"/>
            <a:ext cx="11704320" cy="274320"/>
          </a:xfrm>
          <a:prstGeom prst="rect">
            <a:avLst/>
          </a:prstGeom>
          <a:solidFill>
            <a:srgbClr val="8EA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Benefits &amp; Stakeholders &amp; Allocations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977640"/>
            <a:ext cx="2891790" cy="274320"/>
          </a:xfrm>
          <a:prstGeom prst="rect">
            <a:avLst/>
          </a:prstGeom>
          <a:solidFill>
            <a:srgbClr val="F4B1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Qualitative Benefits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4251960"/>
            <a:ext cx="2891790" cy="1874519"/>
          </a:xfrm>
          <a:prstGeom prst="rect">
            <a:avLst/>
          </a:prstGeom>
          <a:solidFill>
            <a:srgbClr val="CFD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l">
              <a:spcAft>
                <a:spcPts val="400"/>
              </a:spcAft>
            </a:pPr>
            <a:r>
              <a:rPr sz="950">
                <a:solidFill>
                  <a:srgbClr val="000000"/>
                </a:solidFill>
                <a:latin typeface="Calibri"/>
              </a:rPr>
              <a:t>• We follow the new mandatory rule, avoiding audit and regulatory risk.</a:t>
            </a:r>
          </a:p>
          <a:p>
            <a:pPr algn="l">
              <a:spcAft>
                <a:spcPts val="400"/>
              </a:spcAft>
            </a:pPr>
            <a:r>
              <a:rPr sz="950">
                <a:solidFill>
                  <a:srgbClr val="000000"/>
                </a:solidFill>
                <a:latin typeface="Calibri"/>
              </a:rPr>
              <a:t>• Our statements become easier to compare, for our teams and investors.</a:t>
            </a:r>
          </a:p>
          <a:p>
            <a:pPr algn="l">
              <a:spcAft>
                <a:spcPts val="400"/>
              </a:spcAft>
            </a:pPr>
            <a:r>
              <a:rPr sz="950">
                <a:solidFill>
                  <a:srgbClr val="000000"/>
                </a:solidFill>
                <a:latin typeface="Calibri"/>
              </a:rPr>
              <a:t>• Clearer, better-documented rules for our adjusted performance numbers.</a:t>
            </a:r>
          </a:p>
          <a:p>
            <a:pPr algn="l">
              <a:spcAft>
                <a:spcPts val="400"/>
              </a:spcAft>
            </a:pPr>
            <a:r>
              <a:rPr sz="950">
                <a:solidFill>
                  <a:srgbClr val="000000"/>
                </a:solidFill>
                <a:latin typeface="Calibri"/>
              </a:rPr>
              <a:t>• Simpler, more consistent P&amp;L for both official and internal reporting.</a:t>
            </a:r>
          </a:p>
          <a:p>
            <a:pPr algn="l">
              <a:spcAft>
                <a:spcPts val="400"/>
              </a:spcAft>
            </a:pPr>
            <a:r>
              <a:rPr sz="950">
                <a:solidFill>
                  <a:srgbClr val="000000"/>
                </a:solidFill>
                <a:latin typeface="Calibri"/>
              </a:rPr>
              <a:t>• Less manual work and fewer mistakes at closing time.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66110" y="3977640"/>
            <a:ext cx="2891790" cy="274320"/>
          </a:xfrm>
          <a:prstGeom prst="rect">
            <a:avLst/>
          </a:prstGeom>
          <a:solidFill>
            <a:srgbClr val="F4B1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Quantitative Benefits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66110" y="4251960"/>
            <a:ext cx="2891790" cy="1874519"/>
          </a:xfrm>
          <a:prstGeom prst="rect">
            <a:avLst/>
          </a:prstGeom>
          <a:solidFill>
            <a:srgbClr val="CFD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l">
              <a:spcAft>
                <a:spcPts val="400"/>
              </a:spcAft>
            </a:pPr>
            <a:r>
              <a:rPr sz="950">
                <a:solidFill>
                  <a:srgbClr val="000000"/>
                </a:solidFill>
                <a:latin typeface="Calibri"/>
              </a:rPr>
              <a:t>• Less manual work each closing cycle once the system sorts things automatically (exact savings TBD after detailed review).</a:t>
            </a:r>
          </a:p>
          <a:p>
            <a:pPr algn="l">
              <a:spcAft>
                <a:spcPts val="400"/>
              </a:spcAft>
            </a:pPr>
            <a:r>
              <a:rPr sz="950">
                <a:solidFill>
                  <a:srgbClr val="000000"/>
                </a:solidFill>
                <a:latin typeface="Calibri"/>
              </a:rPr>
              <a:t>• We avoid extra costs (advisors, rushed fixes, audit findings) from leaving this until the last minute.</a:t>
            </a:r>
          </a:p>
          <a:p>
            <a:pPr algn="l">
              <a:spcAft>
                <a:spcPts val="400"/>
              </a:spcAft>
            </a:pPr>
            <a:r>
              <a:rPr sz="950">
                <a:solidFill>
                  <a:srgbClr val="000000"/>
                </a:solidFill>
                <a:latin typeface="Calibri"/>
              </a:rPr>
              <a:t>• Exact figures to be confirmed after the initial review.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57900" y="3977640"/>
            <a:ext cx="2891790" cy="274320"/>
          </a:xfrm>
          <a:prstGeom prst="rect">
            <a:avLst/>
          </a:prstGeom>
          <a:solidFill>
            <a:srgbClr val="F4B1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Stakeholders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57900" y="4251960"/>
            <a:ext cx="2891790" cy="1874519"/>
          </a:xfrm>
          <a:prstGeom prst="rect">
            <a:avLst/>
          </a:prstGeom>
          <a:solidFill>
            <a:srgbClr val="CFD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l">
              <a:spcAft>
                <a:spcPts val="400"/>
              </a:spcAft>
            </a:pPr>
            <a:r>
              <a:rPr sz="950">
                <a:solidFill>
                  <a:srgbClr val="000000"/>
                </a:solidFill>
                <a:latin typeface="Calibri"/>
              </a:rPr>
              <a:t>• Group Finance / Corporate Accounting (owner)</a:t>
            </a:r>
          </a:p>
          <a:p>
            <a:pPr algn="l">
              <a:spcAft>
                <a:spcPts val="400"/>
              </a:spcAft>
            </a:pPr>
            <a:r>
              <a:rPr sz="950">
                <a:solidFill>
                  <a:srgbClr val="000000"/>
                </a:solidFill>
                <a:latin typeface="Calibri"/>
              </a:rPr>
              <a:t>• Group Controlling / FP&amp;A</a:t>
            </a:r>
          </a:p>
          <a:p>
            <a:pPr algn="l">
              <a:spcAft>
                <a:spcPts val="400"/>
              </a:spcAft>
            </a:pPr>
            <a:r>
              <a:rPr sz="950">
                <a:solidFill>
                  <a:srgbClr val="000000"/>
                </a:solidFill>
                <a:latin typeface="Calibri"/>
              </a:rPr>
              <a:t>• Investor Relations</a:t>
            </a:r>
          </a:p>
          <a:p>
            <a:pPr algn="l">
              <a:spcAft>
                <a:spcPts val="400"/>
              </a:spcAft>
            </a:pPr>
            <a:r>
              <a:rPr sz="950">
                <a:solidFill>
                  <a:srgbClr val="000000"/>
                </a:solidFill>
                <a:latin typeface="Calibri"/>
              </a:rPr>
              <a:t>• IT / Reporting Systems team</a:t>
            </a:r>
          </a:p>
          <a:p>
            <a:pPr algn="l">
              <a:spcAft>
                <a:spcPts val="400"/>
              </a:spcAft>
            </a:pPr>
            <a:r>
              <a:rPr sz="950">
                <a:solidFill>
                  <a:srgbClr val="000000"/>
                </a:solidFill>
                <a:latin typeface="Calibri"/>
              </a:rPr>
              <a:t>• Internal Audit &amp; External Auditors</a:t>
            </a:r>
          </a:p>
          <a:p>
            <a:pPr algn="l">
              <a:spcAft>
                <a:spcPts val="400"/>
              </a:spcAft>
            </a:pPr>
            <a:r>
              <a:rPr sz="950">
                <a:solidFill>
                  <a:srgbClr val="000000"/>
                </a:solidFill>
                <a:latin typeface="Calibri"/>
              </a:rPr>
              <a:t>• Local Finance teams (Business Units)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49690" y="3977640"/>
            <a:ext cx="2891790" cy="274320"/>
          </a:xfrm>
          <a:prstGeom prst="rect">
            <a:avLst/>
          </a:prstGeom>
          <a:solidFill>
            <a:srgbClr val="F4B1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Allocations Demand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49690" y="4251960"/>
            <a:ext cx="2891790" cy="1874519"/>
          </a:xfrm>
          <a:prstGeom prst="rect">
            <a:avLst/>
          </a:prstGeom>
          <a:solidFill>
            <a:srgbClr val="CFD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50800" bIns="50800"/>
          <a:lstStyle/>
          <a:p>
            <a:pPr algn="l"/>
            <a:r>
              <a:rPr sz="950" b="0">
                <a:solidFill>
                  <a:srgbClr val="000000"/>
                </a:solidFill>
                <a:latin typeface="Calibri"/>
              </a:rPr>
              <a:t>Demand effort CIT (PD):</a:t>
            </a:r>
          </a:p>
          <a:p>
            <a:pPr algn="l"/>
            <a:r>
              <a:rPr sz="950" b="0">
                <a:solidFill>
                  <a:srgbClr val="000000"/>
                </a:solidFill>
                <a:latin typeface="Calibri"/>
              </a:rPr>
              <a:t>~40 person-days (rough estimate; updating IT systems, accounts, reports)</a:t>
            </a:r>
          </a:p>
          <a:p>
            <a:pPr algn="l"/>
            <a:r>
              <a:rPr sz="950" b="0">
                <a:solidFill>
                  <a:srgbClr val="000000"/>
                </a:solidFill>
                <a:latin typeface="Calibri"/>
              </a:rPr>
              <a:t/>
            </a:r>
          </a:p>
          <a:p>
            <a:pPr algn="l"/>
            <a:r>
              <a:rPr sz="950" b="0">
                <a:solidFill>
                  <a:srgbClr val="000000"/>
                </a:solidFill>
                <a:latin typeface="Calibri"/>
              </a:rPr>
              <a:t>Demand effort BG (PD):</a:t>
            </a:r>
          </a:p>
          <a:p>
            <a:pPr algn="l"/>
            <a:r>
              <a:rPr sz="950" b="0">
                <a:solidFill>
                  <a:srgbClr val="000000"/>
                </a:solidFill>
                <a:latin typeface="Calibri"/>
              </a:rPr>
              <a:t>~25 person-days (rough estimate; reviewing changes, setting rules, training)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0" y="6492240"/>
            <a:ext cx="3017520" cy="274320"/>
          </a:xfrm>
          <a:prstGeom prst="rect">
            <a:avLst/>
          </a:prstGeom>
          <a:noFill/>
        </p:spPr>
        <p:txBody>
          <a:bodyPr wrap="square" anchor="t" lIns="76200" rIns="76200" tIns="50800" bIns="50800">
            <a:spAutoFit/>
          </a:bodyPr>
          <a:lstStyle/>
          <a:p>
            <a:pPr algn="r"/>
            <a:r>
              <a:rPr sz="1100" b="1">
                <a:solidFill>
                  <a:srgbClr val="1F3B73"/>
                </a:solidFill>
                <a:latin typeface="Calibri"/>
              </a:rPr>
              <a:t>INNOVATING TOGETHER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