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2800" b="1">
                <a:solidFill>
                  <a:srgbClr val="1F3B73"/>
                </a:solidFill>
                <a:latin typeface="Calibri"/>
              </a:rPr>
              <a:t>Demand Charter - 288 - IFRS 18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77240"/>
            <a:ext cx="1005840" cy="365760"/>
          </a:xfrm>
          <a:prstGeom prst="rect">
            <a:avLst/>
          </a:prstGeom>
          <a:solidFill>
            <a:srgbClr val="8EA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Titel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0160" y="777240"/>
            <a:ext cx="2377440" cy="365760"/>
          </a:xfrm>
          <a:prstGeom prst="rect">
            <a:avLst/>
          </a:prstGeom>
          <a:solidFill>
            <a:srgbClr val="CF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00" b="0">
                <a:solidFill>
                  <a:srgbClr val="000000"/>
                </a:solidFill>
                <a:latin typeface="Calibri"/>
              </a:rPr>
              <a:t>288 - IFRS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777240"/>
            <a:ext cx="1188720" cy="365760"/>
          </a:xfrm>
          <a:prstGeom prst="rect">
            <a:avLst/>
          </a:prstGeom>
          <a:solidFill>
            <a:srgbClr val="8EA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Demand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Manager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777240"/>
            <a:ext cx="2377440" cy="365760"/>
          </a:xfrm>
          <a:prstGeom prst="rect">
            <a:avLst/>
          </a:prstGeom>
          <a:solidFill>
            <a:srgbClr val="CF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00" b="0">
                <a:solidFill>
                  <a:srgbClr val="000000"/>
                </a:solidFill>
                <a:latin typeface="Calibri"/>
              </a:rPr>
              <a:t>Enikő Baga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0" y="777240"/>
            <a:ext cx="1188720" cy="365760"/>
          </a:xfrm>
          <a:prstGeom prst="rect">
            <a:avLst/>
          </a:prstGeom>
          <a:solidFill>
            <a:srgbClr val="8EA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E2E /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Core Proc.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0" y="777240"/>
            <a:ext cx="2468880" cy="365760"/>
          </a:xfrm>
          <a:prstGeom prst="rect">
            <a:avLst/>
          </a:prstGeom>
          <a:solidFill>
            <a:srgbClr val="CF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00" b="0">
                <a:solidFill>
                  <a:srgbClr val="000000"/>
                </a:solidFill>
                <a:latin typeface="Calibri"/>
              </a:rPr>
              <a:t>Finance – Accounting &amp;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Calibri"/>
              </a:rPr>
              <a:t>Financial Reporting (R2R)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81360" y="777240"/>
            <a:ext cx="1005840" cy="365760"/>
          </a:xfrm>
          <a:prstGeom prst="rect">
            <a:avLst/>
          </a:prstGeom>
          <a:solidFill>
            <a:srgbClr val="8EA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Security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Classif.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0" y="777240"/>
            <a:ext cx="1280160" cy="365760"/>
          </a:xfrm>
          <a:prstGeom prst="rect">
            <a:avLst/>
          </a:prstGeom>
          <a:solidFill>
            <a:srgbClr val="CF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00" b="0">
                <a:solidFill>
                  <a:srgbClr val="000000"/>
                </a:solidFill>
                <a:latin typeface="Calibri"/>
              </a:rPr>
              <a:t>Internal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234440"/>
            <a:ext cx="5806440" cy="292608"/>
          </a:xfrm>
          <a:prstGeom prst="rect">
            <a:avLst/>
          </a:prstGeom>
          <a:solidFill>
            <a:srgbClr val="8EA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Current Situation and Pain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234440"/>
            <a:ext cx="5806440" cy="292608"/>
          </a:xfrm>
          <a:prstGeom prst="rect">
            <a:avLst/>
          </a:prstGeom>
          <a:solidFill>
            <a:srgbClr val="8EA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Business Objectives and High-Level Demand Description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527048"/>
            <a:ext cx="5806440" cy="2103120"/>
          </a:xfrm>
          <a:prstGeom prst="rect">
            <a:avLst/>
          </a:prstGeom>
          <a:solidFill>
            <a:srgbClr val="CF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>
              <a:spcAft>
                <a:spcPts val="400"/>
              </a:spcAft>
            </a:pPr>
            <a:r>
              <a:rPr sz="1050">
                <a:solidFill>
                  <a:srgbClr val="000000"/>
                </a:solidFill>
                <a:latin typeface="Calibri"/>
              </a:rPr>
              <a:t>• IAS 1 today does not mandate P&amp;L categories/subtotals → inconsistent presentation across entities and limited peer comparability.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000000"/>
                </a:solidFill>
                <a:latin typeface="Calibri"/>
              </a:rPr>
              <a:t>• No formal governance for management-defined performance measures (MPMs) used in investor communications → audit/compliance risk.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000000"/>
                </a:solidFill>
                <a:latin typeface="Calibri"/>
              </a:rPr>
              <a:t>• Chart of accounts and consolidation/reporting system not structured to auto-classify P&amp;L lines into operating / investing / financing.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000000"/>
                </a:solidFill>
                <a:latin typeface="Calibri"/>
              </a:rPr>
              <a:t>• Alternative performance measures produced via manual spreadsheets with limited audit trail.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000000"/>
                </a:solidFill>
                <a:latin typeface="Calibri"/>
              </a:rPr>
              <a:t>• Inconsistent aggregation/disaggregation of line items across business units.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000000"/>
                </a:solidFill>
                <a:latin typeface="Calibri"/>
              </a:rPr>
              <a:t>• No dedicated budget/resourcing yet assigned for IFRS 18 readiness.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527048"/>
            <a:ext cx="5806440" cy="2103120"/>
          </a:xfrm>
          <a:prstGeom prst="rect">
            <a:avLst/>
          </a:prstGeom>
          <a:solidFill>
            <a:srgbClr val="CF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>
              <a:spcAft>
                <a:spcPts val="400"/>
              </a:spcAft>
            </a:pPr>
            <a:r>
              <a:rPr sz="1050">
                <a:solidFill>
                  <a:srgbClr val="000000"/>
                </a:solidFill>
                <a:latin typeface="Calibri"/>
              </a:rPr>
              <a:t>• Achieve full IFRS 18 compliance before mandatory effective date (periods beginning ≥ 1 Jan 2027; comparatives from 1 Jan 2026).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000000"/>
                </a:solidFill>
                <a:latin typeface="Calibri"/>
              </a:rPr>
              <a:t>• Gap assessment of chart of accounts, consolidation system and disclosure templates vs. the 3 new categories &amp; 2 new subtotals.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000000"/>
                </a:solidFill>
                <a:latin typeface="Calibri"/>
              </a:rPr>
              <a:t>• Define &amp; govern Management-Defined Performance Measures (MPMs), incl. required reconciliation disclosures.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000000"/>
                </a:solidFill>
                <a:latin typeface="Calibri"/>
              </a:rPr>
              <a:t>• Reconfigure P&amp;L structure, CoA mapping and consolidation tool for native category/subtotal reporting.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000000"/>
                </a:solidFill>
                <a:latin typeface="Calibri"/>
              </a:rPr>
              <a:t>• Update statutory templates, disclosure checklists and cash-flow reconciliation logic; train Finance/Controlling/IR.</a:t>
            </a:r>
          </a:p>
          <a:p>
            <a:pPr algn="l">
              <a:spcAft>
                <a:spcPts val="400"/>
              </a:spcAft>
            </a:pPr>
            <a:r>
              <a:rPr sz="1050">
                <a:solidFill>
                  <a:srgbClr val="000000"/>
                </a:solidFill>
                <a:latin typeface="Calibri"/>
              </a:rPr>
              <a:t>• Run a parallel/dry-run cycle and align with external auditors on transition approach.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703320"/>
            <a:ext cx="11704320" cy="274320"/>
          </a:xfrm>
          <a:prstGeom prst="rect">
            <a:avLst/>
          </a:prstGeom>
          <a:solidFill>
            <a:srgbClr val="8EA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Benefits &amp; Stakeholders &amp; Allocations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977640"/>
            <a:ext cx="2891790" cy="274320"/>
          </a:xfrm>
          <a:prstGeom prst="rect">
            <a:avLst/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Qualitative Benefits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251960"/>
            <a:ext cx="2891790" cy="1874519"/>
          </a:xfrm>
          <a:prstGeom prst="rect">
            <a:avLst/>
          </a:prstGeom>
          <a:solidFill>
            <a:srgbClr val="CF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>
              <a:spcAft>
                <a:spcPts val="400"/>
              </a:spcAft>
            </a:pPr>
            <a:r>
              <a:rPr sz="950">
                <a:solidFill>
                  <a:srgbClr val="000000"/>
                </a:solidFill>
                <a:latin typeface="Calibri"/>
              </a:rPr>
              <a:t>• Full compliance with mandatory standard; avoids audit qualification.</a:t>
            </a:r>
          </a:p>
          <a:p>
            <a:pPr algn="l">
              <a:spcAft>
                <a:spcPts val="400"/>
              </a:spcAft>
            </a:pPr>
            <a:r>
              <a:rPr sz="950">
                <a:solidFill>
                  <a:srgbClr val="000000"/>
                </a:solidFill>
                <a:latin typeface="Calibri"/>
              </a:rPr>
              <a:t>• Improved comparability/transparency for investors via standardized subtotals.</a:t>
            </a:r>
          </a:p>
          <a:p>
            <a:pPr algn="l">
              <a:spcAft>
                <a:spcPts val="400"/>
              </a:spcAft>
            </a:pPr>
            <a:r>
              <a:rPr sz="950">
                <a:solidFill>
                  <a:srgbClr val="000000"/>
                </a:solidFill>
                <a:latin typeface="Calibri"/>
              </a:rPr>
              <a:t>• Stronger governance/audit trail over non-GAAP measures.</a:t>
            </a:r>
          </a:p>
          <a:p>
            <a:pPr algn="l">
              <a:spcAft>
                <a:spcPts val="400"/>
              </a:spcAft>
            </a:pPr>
            <a:r>
              <a:rPr sz="950">
                <a:solidFill>
                  <a:srgbClr val="000000"/>
                </a:solidFill>
                <a:latin typeface="Calibri"/>
              </a:rPr>
              <a:t>• Harmonized P&amp;L supports statutory &amp; management reporting.</a:t>
            </a:r>
          </a:p>
          <a:p>
            <a:pPr algn="l">
              <a:spcAft>
                <a:spcPts val="400"/>
              </a:spcAft>
            </a:pPr>
            <a:r>
              <a:rPr sz="950">
                <a:solidFill>
                  <a:srgbClr val="000000"/>
                </a:solidFill>
                <a:latin typeface="Calibri"/>
              </a:rPr>
              <a:t>• Reduced manual effort/error risk at close.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66110" y="3977640"/>
            <a:ext cx="2891790" cy="274320"/>
          </a:xfrm>
          <a:prstGeom prst="rect">
            <a:avLst/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Quantitative Benefits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66110" y="4251960"/>
            <a:ext cx="2891790" cy="1874519"/>
          </a:xfrm>
          <a:prstGeom prst="rect">
            <a:avLst/>
          </a:prstGeom>
          <a:solidFill>
            <a:srgbClr val="CF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>
              <a:spcAft>
                <a:spcPts val="400"/>
              </a:spcAft>
            </a:pPr>
            <a:r>
              <a:rPr sz="950">
                <a:solidFill>
                  <a:srgbClr val="000000"/>
                </a:solidFill>
                <a:latin typeface="Calibri"/>
              </a:rPr>
              <a:t>• Reduced manual closing/adjustment effort per cycle once automated (FTE-days TBD after design phase).</a:t>
            </a:r>
          </a:p>
          <a:p>
            <a:pPr algn="l">
              <a:spcAft>
                <a:spcPts val="400"/>
              </a:spcAft>
            </a:pPr>
            <a:r>
              <a:rPr sz="950">
                <a:solidFill>
                  <a:srgbClr val="000000"/>
                </a:solidFill>
                <a:latin typeface="Calibri"/>
              </a:rPr>
              <a:t>• Avoidance of one-off remediation costs (advisory, late changes, audit findings) from a rushed transition.</a:t>
            </a:r>
          </a:p>
          <a:p>
            <a:pPr algn="l">
              <a:spcAft>
                <a:spcPts val="400"/>
              </a:spcAft>
            </a:pPr>
            <a:r>
              <a:rPr sz="950">
                <a:solidFill>
                  <a:srgbClr val="000000"/>
                </a:solidFill>
                <a:latin typeface="Calibri"/>
              </a:rPr>
              <a:t>• Precise figures to be confirmed after gap assessment.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57900" y="3977640"/>
            <a:ext cx="2891790" cy="274320"/>
          </a:xfrm>
          <a:prstGeom prst="rect">
            <a:avLst/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Stakeholders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57900" y="4251960"/>
            <a:ext cx="2891790" cy="1874519"/>
          </a:xfrm>
          <a:prstGeom prst="rect">
            <a:avLst/>
          </a:prstGeom>
          <a:solidFill>
            <a:srgbClr val="CF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>
              <a:spcAft>
                <a:spcPts val="400"/>
              </a:spcAft>
            </a:pPr>
            <a:r>
              <a:rPr sz="950">
                <a:solidFill>
                  <a:srgbClr val="000000"/>
                </a:solidFill>
                <a:latin typeface="Calibri"/>
              </a:rPr>
              <a:t>• Group Finance / Corporate Accounting (owner)</a:t>
            </a:r>
          </a:p>
          <a:p>
            <a:pPr algn="l">
              <a:spcAft>
                <a:spcPts val="400"/>
              </a:spcAft>
            </a:pPr>
            <a:r>
              <a:rPr sz="950">
                <a:solidFill>
                  <a:srgbClr val="000000"/>
                </a:solidFill>
                <a:latin typeface="Calibri"/>
              </a:rPr>
              <a:t>• Group Controlling / FP&amp;A</a:t>
            </a:r>
          </a:p>
          <a:p>
            <a:pPr algn="l">
              <a:spcAft>
                <a:spcPts val="400"/>
              </a:spcAft>
            </a:pPr>
            <a:r>
              <a:rPr sz="950">
                <a:solidFill>
                  <a:srgbClr val="000000"/>
                </a:solidFill>
                <a:latin typeface="Calibri"/>
              </a:rPr>
              <a:t>• Investor Relations</a:t>
            </a:r>
          </a:p>
          <a:p>
            <a:pPr algn="l">
              <a:spcAft>
                <a:spcPts val="400"/>
              </a:spcAft>
            </a:pPr>
            <a:r>
              <a:rPr sz="950">
                <a:solidFill>
                  <a:srgbClr val="000000"/>
                </a:solidFill>
                <a:latin typeface="Calibri"/>
              </a:rPr>
              <a:t>• Consolidation &amp; Reporting Systems / IT</a:t>
            </a:r>
          </a:p>
          <a:p>
            <a:pPr algn="l">
              <a:spcAft>
                <a:spcPts val="400"/>
              </a:spcAft>
            </a:pPr>
            <a:r>
              <a:rPr sz="950">
                <a:solidFill>
                  <a:srgbClr val="000000"/>
                </a:solidFill>
                <a:latin typeface="Calibri"/>
              </a:rPr>
              <a:t>• Internal Audit &amp; External Auditors</a:t>
            </a:r>
          </a:p>
          <a:p>
            <a:pPr algn="l">
              <a:spcAft>
                <a:spcPts val="400"/>
              </a:spcAft>
            </a:pPr>
            <a:r>
              <a:rPr sz="950">
                <a:solidFill>
                  <a:srgbClr val="000000"/>
                </a:solidFill>
                <a:latin typeface="Calibri"/>
              </a:rPr>
              <a:t>• Business Unit Controllers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49690" y="3977640"/>
            <a:ext cx="2891790" cy="274320"/>
          </a:xfrm>
          <a:prstGeom prst="rect">
            <a:avLst/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Allocations Demand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49690" y="4251960"/>
            <a:ext cx="2891790" cy="1874519"/>
          </a:xfrm>
          <a:prstGeom prst="rect">
            <a:avLst/>
          </a:prstGeom>
          <a:solidFill>
            <a:srgbClr val="CF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l"/>
            <a:r>
              <a:rPr sz="950" b="0">
                <a:solidFill>
                  <a:srgbClr val="000000"/>
                </a:solidFill>
                <a:latin typeface="Calibri"/>
              </a:rPr>
              <a:t>Demand effort CIT (PD):</a:t>
            </a:r>
          </a:p>
          <a:p>
            <a:pPr algn="l"/>
            <a:r>
              <a:rPr sz="950" b="0">
                <a:solidFill>
                  <a:srgbClr val="000000"/>
                </a:solidFill>
                <a:latin typeface="Calibri"/>
              </a:rPr>
              <a:t>~40 PD (illustrative; IT/consolidation system config, CoA mapping, reports)</a:t>
            </a:r>
          </a:p>
          <a:p>
            <a:pPr algn="l"/>
            <a:r>
              <a:rPr sz="950" b="0">
                <a:solidFill>
                  <a:srgbClr val="000000"/>
                </a:solidFill>
                <a:latin typeface="Calibri"/>
              </a:rPr>
              <a:t/>
            </a:r>
          </a:p>
          <a:p>
            <a:pPr algn="l"/>
            <a:r>
              <a:rPr sz="950" b="0">
                <a:solidFill>
                  <a:srgbClr val="000000"/>
                </a:solidFill>
                <a:latin typeface="Calibri"/>
              </a:rPr>
              <a:t>Demand effort BG (PD):</a:t>
            </a:r>
          </a:p>
          <a:p>
            <a:pPr algn="l"/>
            <a:r>
              <a:rPr sz="950" b="0">
                <a:solidFill>
                  <a:srgbClr val="000000"/>
                </a:solidFill>
                <a:latin typeface="Calibri"/>
              </a:rPr>
              <a:t>~25 PD (illustrative; gap assessment, MPM governance, policy, training)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6492240"/>
            <a:ext cx="3017520" cy="2743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r"/>
            <a:r>
              <a:rPr sz="1100" b="1">
                <a:solidFill>
                  <a:srgbClr val="1F3B73"/>
                </a:solidFill>
                <a:latin typeface="Calibri"/>
              </a:rPr>
              <a:t>INNOVATING TOGETHER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