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Effort by Phase (PD)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Effort (PD)</c:v>
                </c:pt>
              </c:strCache>
            </c:strRef>
          </c:tx>
          <c:spPr>
            <a:solidFill>
              <a:srgbClr val="1F3B73"/>
            </a:solidFill>
          </c:spPr>
          <c:cat>
            <c:strRef>
              <c:f>Sheet1!$A$2:$A$9</c:f>
              <c:strCache>
                <c:ptCount val="8"/>
                <c:pt idx="0">
                  <c:v>1. Design &amp; Prep</c:v>
                </c:pt>
                <c:pt idx="1">
                  <c:v>2. FSV Restructuring</c:v>
                </c:pt>
                <c:pt idx="2">
                  <c:v>3. Config Updates</c:v>
                </c:pt>
                <c:pt idx="3">
                  <c:v>4. Development</c:v>
                </c:pt>
                <c:pt idx="4">
                  <c:v>5. Interface Validation</c:v>
                </c:pt>
                <c:pt idx="5">
                  <c:v>6. Integration Testing</c:v>
                </c:pt>
                <c:pt idx="6">
                  <c:v>7. QA Transport &amp; UAT</c:v>
                </c:pt>
                <c:pt idx="7">
                  <c:v>8. Production Go-Live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20.0</c:v>
                </c:pt>
                <c:pt idx="1">
                  <c:v>14.0</c:v>
                </c:pt>
                <c:pt idx="2">
                  <c:v>12.5</c:v>
                </c:pt>
                <c:pt idx="3">
                  <c:v>11.0</c:v>
                </c:pt>
                <c:pt idx="4">
                  <c:v>12.5</c:v>
                </c:pt>
                <c:pt idx="5">
                  <c:v>12.5</c:v>
                </c:pt>
                <c:pt idx="6">
                  <c:v>14.5</c:v>
                </c:pt>
                <c:pt idx="7">
                  <c:v>8.0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Effort by Role (PD)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Effort (PD)</c:v>
                </c:pt>
              </c:strCache>
            </c:strRef>
          </c:tx>
          <c:spPr>
            <a:solidFill>
              <a:srgbClr val="8EA9DB"/>
            </a:solidFill>
          </c:spPr>
          <c:cat>
            <c:strRef>
              <c:f>Sheet1!$A$2:$A$8</c:f>
              <c:strCache>
                <c:ptCount val="7"/>
                <c:pt idx="0">
                  <c:v>FI/CO Functional Consultant</c:v>
                </c:pt>
                <c:pt idx="1">
                  <c:v>ABAP Developer</c:v>
                </c:pt>
                <c:pt idx="2">
                  <c:v>Business Users (UAT)</c:v>
                </c:pt>
                <c:pt idx="3">
                  <c:v>Project Manager</c:v>
                </c:pt>
                <c:pt idx="4">
                  <c:v>External Teams (HFM, Tagetik, AMANA)</c:v>
                </c:pt>
                <c:pt idx="5">
                  <c:v>SAP Basis Administrator</c:v>
                </c:pt>
                <c:pt idx="6">
                  <c:v>Treasury Team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71.5</c:v>
                </c:pt>
                <c:pt idx="1">
                  <c:v>12</c:v>
                </c:pt>
                <c:pt idx="2">
                  <c:v>5</c:v>
                </c:pt>
                <c:pt idx="3">
                  <c:v>5</c:v>
                </c:pt>
                <c:pt idx="4">
                  <c:v>6</c:v>
                </c:pt>
                <c:pt idx="5">
                  <c:v>5</c:v>
                </c:pt>
                <c:pt idx="6">
                  <c:v>1.5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/>
            </a:pPr>
            <a:r>
              <a:t>Effort by Work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Effort (PD)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Configuration / Customizing</c:v>
                </c:pt>
                <c:pt idx="1">
                  <c:v>Development</c:v>
                </c:pt>
                <c:pt idx="2">
                  <c:v>Testing</c:v>
                </c:pt>
                <c:pt idx="3">
                  <c:v>External Coordination</c:v>
                </c:pt>
                <c:pt idx="4">
                  <c:v>Project Management &amp; Go-Live</c:v>
                </c:pt>
                <c:pt idx="5">
                  <c:v>Defect Resolution Buffer</c:v>
                </c:pt>
                <c:pt idx="6">
                  <c:v>SAP Note &amp; Treasury Verification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</c:v>
                </c:pt>
                <c:pt idx="1">
                  <c:v>8</c:v>
                </c:pt>
                <c:pt idx="2">
                  <c:v>27</c:v>
                </c:pt>
                <c:pt idx="3">
                  <c:v>8</c:v>
                </c:pt>
                <c:pt idx="4">
                  <c:v>14</c:v>
                </c:pt>
                <c:pt idx="5">
                  <c:v>8</c:v>
                </c:pt>
                <c:pt idx="6">
                  <c:v>10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IFRS 18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800" b="0" i="0">
                <a:solidFill>
                  <a:srgbClr val="8EA9DB"/>
                </a:solidFill>
                <a:latin typeface="Calibri"/>
              </a:rPr>
              <a:t>SAP Implementation Project Plan —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3657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100" b="0" i="1">
                <a:solidFill>
                  <a:srgbClr val="CFD3DA"/>
                </a:solidFill>
                <a:latin typeface="Calibri"/>
              </a:rPr>
              <a:t>Demand 288 - IFRS 18  |  Updated Jul 14,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23747" y="3017520"/>
            <a:ext cx="25146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3068320"/>
            <a:ext cx="2514600" cy="22860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TOTAL EFFORT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23747" y="3017520"/>
            <a:ext cx="2514600" cy="254000"/>
          </a:xfrm>
          <a:prstGeom prst="rect">
            <a:avLst/>
          </a:prstGeom>
          <a:solidFill>
            <a:srgbClr val="8EA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747" y="3030220"/>
            <a:ext cx="2514600" cy="22860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TOTAL 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747" y="3322320"/>
            <a:ext cx="2514600" cy="863600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pPr algn="ctr"/>
            <a:r>
              <a:rPr sz="2200" b="1" i="0">
                <a:solidFill>
                  <a:srgbClr val="1F3B73"/>
                </a:solidFill>
                <a:latin typeface="Calibri"/>
              </a:rPr>
              <a:t>~105 PD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747" y="4185920"/>
            <a:ext cx="2514600" cy="19050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  <a:latin typeface="Calibri"/>
              </a:rPr>
              <a:t>was ~95 PD before SAP Note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66947" y="3017520"/>
            <a:ext cx="25146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6947" y="3068320"/>
            <a:ext cx="2514600" cy="22860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DURATION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66947" y="3017520"/>
            <a:ext cx="2514600" cy="254000"/>
          </a:xfrm>
          <a:prstGeom prst="rect">
            <a:avLst/>
          </a:prstGeom>
          <a:solidFill>
            <a:srgbClr val="8EA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6947" y="3030220"/>
            <a:ext cx="2514600" cy="22860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6947" y="3322320"/>
            <a:ext cx="2514600" cy="863600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pPr algn="ctr"/>
            <a:r>
              <a:rPr sz="2200" b="1" i="0">
                <a:solidFill>
                  <a:srgbClr val="1F3B73"/>
                </a:solidFill>
                <a:latin typeface="Calibri"/>
              </a:rPr>
              <a:t>~22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6947" y="4185920"/>
            <a:ext cx="2514600" cy="19050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  <a:latin typeface="Calibri"/>
              </a:rPr>
              <a:t>mid-Jul to early Dec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0147" y="3017520"/>
            <a:ext cx="25146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0147" y="3068320"/>
            <a:ext cx="2514600" cy="22860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ACTIVITIES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147" y="3017520"/>
            <a:ext cx="2514600" cy="254000"/>
          </a:xfrm>
          <a:prstGeom prst="rect">
            <a:avLst/>
          </a:prstGeom>
          <a:solidFill>
            <a:srgbClr val="8EA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0147" y="3030220"/>
            <a:ext cx="2514600" cy="22860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ACTIVITIES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0147" y="3322320"/>
            <a:ext cx="2514600" cy="863600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pPr algn="ctr"/>
            <a:r>
              <a:rPr sz="2200" b="1" i="0">
                <a:solidFill>
                  <a:srgbClr val="1F3B73"/>
                </a:solidFill>
                <a:latin typeface="Calibri"/>
              </a:rPr>
              <a:t>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0147" y="4185920"/>
            <a:ext cx="2514600" cy="19050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  <a:latin typeface="Calibri"/>
              </a:rPr>
              <a:t>across 8 phases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53347" y="3017520"/>
            <a:ext cx="25146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3347" y="3068320"/>
            <a:ext cx="2514600" cy="22860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GO-LIVE TARGET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3347" y="3017520"/>
            <a:ext cx="2514600" cy="254000"/>
          </a:xfrm>
          <a:prstGeom prst="rect">
            <a:avLst/>
          </a:prstGeom>
          <a:solidFill>
            <a:srgbClr val="8EA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3347" y="3030220"/>
            <a:ext cx="2514600" cy="22860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GO-LIVE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3347" y="3322320"/>
            <a:ext cx="2514600" cy="863600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pPr algn="ctr"/>
            <a:r>
              <a:rPr sz="2200" b="1" i="0">
                <a:solidFill>
                  <a:srgbClr val="1F3B73"/>
                </a:solidFill>
                <a:latin typeface="Calibri"/>
              </a:rPr>
              <a:t>10 Nov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3347" y="4185920"/>
            <a:ext cx="2514600" cy="19050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  <a:latin typeface="Calibri"/>
              </a:rPr>
              <a:t>ahead of 1 Jan 2027 effective 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46320"/>
            <a:ext cx="10332720" cy="14630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Restructure the Financial Statement Versions (ZHFM, ZCPL, ZUKV) for the new IFRS 18 categories and subtotals — the foundation all other work depends on.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Update HFM consolidation mapping, financial statement export/AMANA, P&amp;L and working capital reporting, and IFRS 16 lease data classification.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New this update: review/implement SAP Note 3670330 and verify treasury (TRM) G/L account classification.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1" i="0">
                <a:solidFill>
                  <a:srgbClr val="1F3B73"/>
                </a:solidFill>
                <a:latin typeface="Calibri"/>
              </a:rPr>
              <a:t>INNOVATING TOGETHER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537960"/>
            <a:ext cx="2743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Timeline</a:t>
            </a:r>
          </a:p>
        </p:txBody>
      </p:sp>
      <p:pic>
        <p:nvPicPr>
          <p:cNvPr id="5" name="Picture 4" descr="IFRS18-Project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53528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1" i="0">
                <a:solidFill>
                  <a:srgbClr val="1F3B73"/>
                </a:solidFill>
                <a:latin typeface="Calibri"/>
              </a:rPr>
              <a:t>INNOVATING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2743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Effort Breakdown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960120"/>
          <a:ext cx="57607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72200" y="960120"/>
          <a:ext cx="571500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291840" y="4343400"/>
          <a:ext cx="557784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1" i="0">
                <a:solidFill>
                  <a:srgbClr val="1F3B73"/>
                </a:solidFill>
                <a:latin typeface="Calibri"/>
              </a:rPr>
              <a:t>INNOVATING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2743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Key Milestones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005840"/>
          <a:ext cx="103327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321040"/>
              </a:tblGrid>
              <a:tr h="4495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Jul 18, 2026</a:t>
                      </a:r>
                    </a:p>
                  </a:txBody>
                  <a:tcPr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SAP Note 3670330 reviewed and child notes identified (NEW)</a:t>
                      </a:r>
                    </a:p>
                  </a:txBody>
                  <a:tcPr>
                    <a:solidFill>
                      <a:srgbClr val="F4B183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Jul 25,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Design complete — FSV node structures and HFM positions defined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Aug 15,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FSV restructuring complete in CSD (ZHFM, ZCPL, ZUKV)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Sep 5,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All configuration and development complete in CSD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Sep 19,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Interface validation complete (HFM, AMANA)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Oct 10,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Integration testing complete — all defects resolved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Oct 13,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Transport to CSQ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Nov 7,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UAT sign-off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Nov 10,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Transport to CSP (Production)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Dec 5,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Hypercare ends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Jan 1,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IFRS 18 effective — system fully 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1" i="0">
                <a:solidFill>
                  <a:srgbClr val="1F3B73"/>
                </a:solidFill>
                <a:latin typeface="Calibri"/>
              </a:rPr>
              <a:t>INNOVATING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2743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Top Risks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760720" cy="365760"/>
          </a:xfrm>
          <a:prstGeom prst="rect">
            <a:avLst/>
          </a:prstGeom>
          <a:solidFill>
            <a:srgbClr val="8EA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Top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760720" cy="502920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10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HFM-side changes delayed (external team dependency) — blocks end-to-end validation of the consolidation interface.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SAP's own solution approach (Note 3670330) doesn't cover third-party (HFM) consolidation — HFM alignment remains fully this project's responsibility.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R8: SAP Note 3670330 corrections may not be valid for the current release — could require an upgrade or manual backport.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R9: Treasury G/L accounts may not be correctly classified under IFRS 18 if SAP TRM is in use — now addressed by Activities 1.10 and 5.9.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IAS 7 cash-flow reclassification (dividends/interest) may affect existing cash-flow CDS views — checked in Activity 5.8.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Transport conflicts in CSQ/CSP could delay go-live.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960120"/>
            <a:ext cx="5394960" cy="365760"/>
          </a:xfrm>
          <a:prstGeom prst="rect">
            <a:avLst/>
          </a:prstGeom>
          <a:solidFill>
            <a:srgbClr val="8EA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25880"/>
            <a:ext cx="5394960" cy="502920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10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Kick off Phase 1 (Activities 1.1-1.11): design workshop, FSV/HFM structure definition, SAP Note review, and treasury G/L account review.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Read SAP Note 3696338 (Private Cloud/On-Premise advisory) — the most relevant of the confirmed companion notes for this landscape.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Confirm whether SAP TRM is in use for loans/deposits/FX/derivatives with Finance/Treasury (Activity 1.10).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Consider raising a Customer Influence Request with SAP, per their own recommendation in Note 3670330.</a:t>
            </a:r>
          </a:p>
          <a:p>
            <a:pPr algn="l">
              <a:spcAft>
                <a:spcPts val="10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Get sign-off on the restructured FSVs (Activity 2.5) before starting downstream configuration/development work (Exec. Order 8+).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537960"/>
            <a:ext cx="210312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1" i="0">
                <a:solidFill>
                  <a:srgbClr val="1F3B73"/>
                </a:solidFill>
                <a:latin typeface="Calibri"/>
              </a:rPr>
              <a:t>INNOVATING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2743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